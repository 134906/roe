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https://ktglbuc-my.sharepoint.com/personal/xinyi_deng_kantar_com/Documents/Desktop/&#20195;&#30721;&#20462;&#25913;&#20013;/ROE_Results_workfile_fille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KPI Performance Breakdown</a:t>
            </a:r>
          </a:p>
        </c:rich>
      </c:tx>
      <c:layout>
        <c:manualLayout>
          <c:xMode val="edge"/>
          <c:yMode val="edge"/>
          <c:x val="0.38346995578888438"/>
          <c:y val="2.7990284906981269E-2"/>
        </c:manualLayout>
      </c:layout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'2F.Results to CS_MIA'!$B$3</c:f>
              <c:strCache>
                <c:ptCount val="1"/>
                <c:pt idx="0">
                  <c:v>Other (No exposure)</c:v>
                </c:pt>
              </c:strCache>
            </c:strRef>
          </c:tx>
          <c:spPr>
            <a:solidFill>
              <a:srgbClr val="A6A6A6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'2F.Results to CS_MIA'!$C$2:$V$2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CS_MIA'!$C$3:$V$3</c:f>
              <c:numCache>
                <c:formatCode>0.0%</c:formatCode>
                <c:ptCount val="20"/>
                <c:pt idx="0">
                  <c:v>0.19372876659363059</c:v>
                </c:pt>
                <c:pt idx="1">
                  <c:v>0.11687100032063689</c:v>
                </c:pt>
                <c:pt idx="2">
                  <c:v>0.11923156204842457</c:v>
                </c:pt>
                <c:pt idx="3">
                  <c:v>0.11754911167506471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F8-48A1-B9FE-6BBEB563DA32}"/>
            </c:ext>
          </c:extLst>
        </c:ser>
        <c:ser>
          <c:idx val="1"/>
          <c:order val="1"/>
          <c:tx>
            <c:strRef>
              <c:f>'2F.Results to CS_MIA'!$B$4</c:f>
              <c:strCache>
                <c:ptCount val="1"/>
                <c:pt idx="0">
                  <c:v>Campaign Impacts (contribution from exposure)</c:v>
                </c:pt>
              </c:strCache>
            </c:strRef>
          </c:tx>
          <c:spPr>
            <a:solidFill>
              <a:srgbClr val="4472C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'2F.Results to CS_MIA'!$C$2:$V$2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CS_MIA'!$C$4:$V$4</c:f>
              <c:numCache>
                <c:formatCode>0.0%</c:formatCode>
                <c:ptCount val="20"/>
                <c:pt idx="0">
                  <c:v>2.2813513526854706E-2</c:v>
                </c:pt>
                <c:pt idx="1">
                  <c:v>7.9235760180835085E-3</c:v>
                </c:pt>
                <c:pt idx="2">
                  <c:v>2.0168708084375528E-2</c:v>
                </c:pt>
                <c:pt idx="3">
                  <c:v>2.008804286708088E-2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F8-48A1-B9FE-6BBEB563DA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1990304"/>
        <c:axId val="611988864"/>
      </c:barChart>
      <c:catAx>
        <c:axId val="611990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988864"/>
        <c:crosses val="autoZero"/>
        <c:auto val="1"/>
        <c:lblAlgn val="ctr"/>
        <c:lblOffset val="100"/>
        <c:noMultiLvlLbl val="0"/>
      </c:catAx>
      <c:valAx>
        <c:axId val="61198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990304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'2F.Results to CS_MIA'!$B$10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CS_MIA'!$C$10:$V$10</c:f>
              <c:numCache>
                <c:formatCode>0%</c:formatCode>
                <c:ptCount val="20"/>
                <c:pt idx="0">
                  <c:v>0.37598525924945186</c:v>
                </c:pt>
                <c:pt idx="1">
                  <c:v>0.84919107950505013</c:v>
                </c:pt>
                <c:pt idx="2">
                  <c:v>0.31714126173897839</c:v>
                </c:pt>
                <c:pt idx="3">
                  <c:v>0.29795529305716079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94-4D51-B45D-159040AA5DFB}"/>
            </c:ext>
          </c:extLst>
        </c:ser>
        <c:ser>
          <c:idx val="1"/>
          <c:order val="1"/>
          <c:tx>
            <c:strRef>
              <c:f>'2F.Results to CS_MIA'!$B$11</c:f>
              <c:strCache>
                <c:ptCount val="1"/>
                <c:pt idx="0">
                  <c:v>youtube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CS_MIA'!$C$11:$V$11</c:f>
              <c:numCache>
                <c:formatCode>0%</c:formatCode>
                <c:ptCount val="20"/>
                <c:pt idx="0">
                  <c:v>0.26474738831187916</c:v>
                </c:pt>
                <c:pt idx="1">
                  <c:v>7.5034741648583064E-2</c:v>
                </c:pt>
                <c:pt idx="2">
                  <c:v>7.4217592394776377E-2</c:v>
                </c:pt>
                <c:pt idx="3">
                  <c:v>7.9746882975456096E-2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94-4D51-B45D-159040AA5DFB}"/>
            </c:ext>
          </c:extLst>
        </c:ser>
        <c:ser>
          <c:idx val="2"/>
          <c:order val="2"/>
          <c:tx>
            <c:strRef>
              <c:f>'2F.Results to CS_MIA'!$B$12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CS_MIA'!$C$12:$V$12</c:f>
              <c:numCache>
                <c:formatCode>0%</c:formatCode>
                <c:ptCount val="20"/>
                <c:pt idx="0">
                  <c:v>0.19430558522708508</c:v>
                </c:pt>
                <c:pt idx="1">
                  <c:v>4.2470094673402521E-2</c:v>
                </c:pt>
                <c:pt idx="2">
                  <c:v>0.57569975245402349</c:v>
                </c:pt>
                <c:pt idx="3">
                  <c:v>0.29003414635847197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94-4D51-B45D-159040AA5DFB}"/>
            </c:ext>
          </c:extLst>
        </c:ser>
        <c:ser>
          <c:idx val="3"/>
          <c:order val="3"/>
          <c:tx>
            <c:strRef>
              <c:f>'2F.Results to CS_MIA'!$B$13</c:f>
              <c:strCache>
                <c:ptCount val="1"/>
                <c:pt idx="0">
                  <c:v>metro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CS_MIA'!$C$13:$V$13</c:f>
              <c:numCache>
                <c:formatCode>0%</c:formatCode>
                <c:ptCount val="20"/>
                <c:pt idx="0">
                  <c:v>0.16496176721158379</c:v>
                </c:pt>
                <c:pt idx="1">
                  <c:v>3.3304084172964377E-2</c:v>
                </c:pt>
                <c:pt idx="2">
                  <c:v>3.2941393412221714E-2</c:v>
                </c:pt>
                <c:pt idx="3">
                  <c:v>0.33226367760891112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94-4D51-B45D-159040AA5DFB}"/>
            </c:ext>
          </c:extLst>
        </c:ser>
        <c:ser>
          <c:idx val="4"/>
          <c:order val="4"/>
          <c:tx>
            <c:strRef>
              <c:f>'2F.Results to CS_MIA'!$B$14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CS_MIA'!$C$14:$V$14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94-4D51-B45D-159040AA5DFB}"/>
            </c:ext>
          </c:extLst>
        </c:ser>
        <c:ser>
          <c:idx val="5"/>
          <c:order val="5"/>
          <c:tx>
            <c:strRef>
              <c:f>'2F.Results to CS_MIA'!$B$15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CS_MIA'!$C$15:$V$15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94-4D51-B45D-159040AA5DFB}"/>
            </c:ext>
          </c:extLst>
        </c:ser>
        <c:ser>
          <c:idx val="6"/>
          <c:order val="6"/>
          <c:tx>
            <c:strRef>
              <c:f>'2F.Results to CS_MIA'!$B$16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CS_MIA'!$C$16:$V$16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394-4D51-B45D-159040AA5DFB}"/>
            </c:ext>
          </c:extLst>
        </c:ser>
        <c:ser>
          <c:idx val="7"/>
          <c:order val="7"/>
          <c:tx>
            <c:strRef>
              <c:f>'2F.Results to CS_MIA'!$B$17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CS_MIA'!$C$17:$V$17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394-4D51-B45D-159040AA5DFB}"/>
            </c:ext>
          </c:extLst>
        </c:ser>
        <c:ser>
          <c:idx val="8"/>
          <c:order val="8"/>
          <c:tx>
            <c:strRef>
              <c:f>'2F.Results to CS_MIA'!$B$18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CS_MIA'!$C$18:$V$18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394-4D51-B45D-159040AA5DFB}"/>
            </c:ext>
          </c:extLst>
        </c:ser>
        <c:ser>
          <c:idx val="9"/>
          <c:order val="9"/>
          <c:tx>
            <c:strRef>
              <c:f>'2F.Results to CS_MIA'!$B$19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CS_MIA'!$C$19:$V$19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394-4D51-B45D-159040AA5DFB}"/>
            </c:ext>
          </c:extLst>
        </c:ser>
        <c:ser>
          <c:idx val="10"/>
          <c:order val="10"/>
          <c:tx>
            <c:strRef>
              <c:f>'2F.Results to CS_MIA'!$B$20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CS_MIA'!$C$20:$V$20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394-4D51-B45D-159040AA5DFB}"/>
            </c:ext>
          </c:extLst>
        </c:ser>
        <c:ser>
          <c:idx val="11"/>
          <c:order val="11"/>
          <c:tx>
            <c:strRef>
              <c:f>'2F.Results to CS_MIA'!$B$21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CS_MIA'!$C$21:$V$21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394-4D51-B45D-159040AA5DFB}"/>
            </c:ext>
          </c:extLst>
        </c:ser>
        <c:ser>
          <c:idx val="12"/>
          <c:order val="12"/>
          <c:tx>
            <c:strRef>
              <c:f>'2F.Results to CS_MIA'!$B$22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CS_MIA'!$C$22:$V$22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394-4D51-B45D-159040AA5DFB}"/>
            </c:ext>
          </c:extLst>
        </c:ser>
        <c:ser>
          <c:idx val="13"/>
          <c:order val="13"/>
          <c:tx>
            <c:strRef>
              <c:f>'2F.Results to CS_MIA'!$B$23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CS_MIA'!$C$23:$V$23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394-4D51-B45D-159040AA5DFB}"/>
            </c:ext>
          </c:extLst>
        </c:ser>
        <c:ser>
          <c:idx val="14"/>
          <c:order val="14"/>
          <c:tx>
            <c:strRef>
              <c:f>'2F.Results to CS_MIA'!$B$24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CS_MIA'!$C$24:$V$24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394-4D51-B45D-159040AA5DFB}"/>
            </c:ext>
          </c:extLst>
        </c:ser>
        <c:ser>
          <c:idx val="15"/>
          <c:order val="15"/>
          <c:tx>
            <c:strRef>
              <c:f>'2F.Results to CS_MIA'!$B$25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CS_MIA'!$C$25:$V$25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0394-4D51-B45D-159040AA5DFB}"/>
            </c:ext>
          </c:extLst>
        </c:ser>
        <c:ser>
          <c:idx val="16"/>
          <c:order val="16"/>
          <c:tx>
            <c:strRef>
              <c:f>'2F.Results to CS_MIA'!$B$26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CS_MIA'!$C$26:$V$26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394-4D51-B45D-159040AA5DFB}"/>
            </c:ext>
          </c:extLst>
        </c:ser>
        <c:ser>
          <c:idx val="17"/>
          <c:order val="17"/>
          <c:tx>
            <c:strRef>
              <c:f>'2F.Results to CS_MIA'!$B$27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CS_MIA'!$C$27:$V$27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0394-4D51-B45D-159040AA5DFB}"/>
            </c:ext>
          </c:extLst>
        </c:ser>
        <c:ser>
          <c:idx val="18"/>
          <c:order val="18"/>
          <c:tx>
            <c:strRef>
              <c:f>'2F.Results to CS_MIA'!$B$28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CS_MIA'!$C$9:$V$9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CS_MIA'!$C$28:$V$28</c:f>
              <c:numCache>
                <c:formatCode>0%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394-4D51-B45D-159040AA5D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51306912"/>
        <c:axId val="1651307392"/>
      </c:barChart>
      <c:catAx>
        <c:axId val="1651306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1307392"/>
        <c:crosses val="autoZero"/>
        <c:auto val="1"/>
        <c:lblAlgn val="ctr"/>
        <c:lblOffset val="100"/>
        <c:noMultiLvlLbl val="0"/>
      </c:catAx>
      <c:valAx>
        <c:axId val="1651307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1306912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ubbleChart>
        <c:varyColors val="0"/>
        <c:ser>
          <c:idx val="0"/>
          <c:order val="0"/>
          <c:tx>
            <c:strRef>
              <c:f>'2F.Results to CS_ROE SCAN'!$C$126</c:f>
              <c:strCache>
                <c:ptCount val="1"/>
                <c:pt idx="0">
                  <c:v>Brand Awareness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 w="25400">
              <a:noFill/>
              <a:prstDash val="solid"/>
            </a:ln>
          </c:spPr>
          <c:invertIfNegative val="0"/>
          <c:xVal>
            <c:numRef>
              <c:f>'2F.Results to CS_ROE SCAN'!$C$88:$C$106</c:f>
              <c:numCache>
                <c:formatCode>0%</c:formatCode>
                <c:ptCount val="19"/>
                <c:pt idx="0">
                  <c:v>0.11498454998908771</c:v>
                </c:pt>
                <c:pt idx="1">
                  <c:v>0.11176343853623461</c:v>
                </c:pt>
                <c:pt idx="2">
                  <c:v>0.189776244098597</c:v>
                </c:pt>
                <c:pt idx="3">
                  <c:v>0.1488182227068803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xVal>
          <c:yVal>
            <c:numRef>
              <c:f>'2F.Results to CS_ROE SCAN'!$C$127:$C$145</c:f>
              <c:numCache>
                <c:formatCode>_(* #,##0.00_);_(* \(#,##0.00\);_(* "-"??_);_(@_)</c:formatCode>
                <c:ptCount val="19"/>
                <c:pt idx="0">
                  <c:v>129.73467546911485</c:v>
                </c:pt>
                <c:pt idx="1">
                  <c:v>110.42219357865264</c:v>
                </c:pt>
                <c:pt idx="2">
                  <c:v>72.595905074024841</c:v>
                </c:pt>
                <c:pt idx="3">
                  <c:v>75.536002758189397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yVal>
          <c:bubbleSize>
            <c:numRef>
              <c:f>'2F.Results to CS_ROE SCAN'!$C$49:$C$67</c:f>
              <c:numCache>
                <c:formatCode>0%</c:formatCode>
                <c:ptCount val="19"/>
                <c:pt idx="0">
                  <c:v>8.5775447977853442E-3</c:v>
                </c:pt>
                <c:pt idx="1">
                  <c:v>6.0398181244525105E-3</c:v>
                </c:pt>
                <c:pt idx="2">
                  <c:v>4.4327930969215255E-3</c:v>
                </c:pt>
                <c:pt idx="3">
                  <c:v>3.7633575076953239E-3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1626-4BF2-8733-D002704769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645756240"/>
        <c:axId val="1645762960"/>
      </c:bubbleChart>
      <c:valAx>
        <c:axId val="1645756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62960"/>
        <c:crosses val="autoZero"/>
        <c:crossBetween val="midCat"/>
      </c:valAx>
      <c:valAx>
        <c:axId val="164576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56240"/>
        <c:crosses val="autoZero"/>
        <c:crossBetween val="midCat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400" b="1" i="0" strike="noStrike" kern="1200" spc="0" baseline="0">
                <a:solidFill>
                  <a:sysClr val="windowText" lastClr="000000">
                    <a:lumOff val="35000"/>
                    <a:lumMod val="65000"/>
                  </a:sysClr>
                </a:solidFill>
              </a:rPr>
              <a:t>KPI Performance Breakdown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'2F.Results to CS_ROE SCAN'!$B$3</c:f>
              <c:strCache>
                <c:ptCount val="1"/>
                <c:pt idx="0">
                  <c:v>Other (No exposure)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SCAN'!$C$2:$V$2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CS_ROE SCAN'!$C$3:$V$3</c:f>
              <c:numCache>
                <c:formatCode>0.0%</c:formatCode>
                <c:ptCount val="20"/>
                <c:pt idx="0">
                  <c:v>0.19372876659363059</c:v>
                </c:pt>
                <c:pt idx="1">
                  <c:v>0.11687100032063689</c:v>
                </c:pt>
                <c:pt idx="2">
                  <c:v>0.11923156204842457</c:v>
                </c:pt>
                <c:pt idx="3">
                  <c:v>0.11754911167506471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2-4D34-BFEF-C8FC86B7E822}"/>
            </c:ext>
          </c:extLst>
        </c:ser>
        <c:ser>
          <c:idx val="1"/>
          <c:order val="1"/>
          <c:tx>
            <c:strRef>
              <c:f>'2F.Results to CS_ROE SCAN'!$B$4</c:f>
              <c:strCache>
                <c:ptCount val="1"/>
                <c:pt idx="0">
                  <c:v>Campaign Impacts (contribution from exposure)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SCAN'!$C$2:$V$2</c:f>
              <c:strCache>
                <c:ptCount val="20"/>
                <c:pt idx="0">
                  <c:v>Brand Awareness</c:v>
                </c:pt>
                <c:pt idx="1">
                  <c:v>Brand Familiarity</c:v>
                </c:pt>
                <c:pt idx="2">
                  <c:v>Brand Consideration</c:v>
                </c:pt>
                <c:pt idx="3">
                  <c:v>Outstanding performance in taking portraits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strCache>
            </c:strRef>
          </c:cat>
          <c:val>
            <c:numRef>
              <c:f>'2F.Results to CS_ROE SCAN'!$C$4:$V$4</c:f>
              <c:numCache>
                <c:formatCode>0.0%</c:formatCode>
                <c:ptCount val="20"/>
                <c:pt idx="0">
                  <c:v>2.2813513526854706E-2</c:v>
                </c:pt>
                <c:pt idx="1">
                  <c:v>7.9235760180835085E-3</c:v>
                </c:pt>
                <c:pt idx="2">
                  <c:v>2.0168708084375528E-2</c:v>
                </c:pt>
                <c:pt idx="3">
                  <c:v>2.008804286708088E-2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B2-4D34-BFEF-C8FC86B7E8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09765599"/>
        <c:axId val="2109767519"/>
      </c:barChart>
      <c:catAx>
        <c:axId val="2109765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09767519"/>
        <c:crosses val="autoZero"/>
        <c:auto val="1"/>
        <c:lblAlgn val="ctr"/>
        <c:lblOffset val="100"/>
        <c:noMultiLvlLbl val="0"/>
      </c:catAx>
      <c:valAx>
        <c:axId val="2109767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09765599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'2F.Results to CS_ROE SCAN'!$C$9</c:f>
              <c:strCache>
                <c:ptCount val="1"/>
                <c:pt idx="0">
                  <c:v>Brand Awareness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SCAN'!$C$10:$C$28</c:f>
              <c:numCache>
                <c:formatCode>0%</c:formatCode>
                <c:ptCount val="19"/>
                <c:pt idx="0">
                  <c:v>0.37598525924945186</c:v>
                </c:pt>
                <c:pt idx="1">
                  <c:v>0.26474738831187916</c:v>
                </c:pt>
                <c:pt idx="2">
                  <c:v>0.19430558522708508</c:v>
                </c:pt>
                <c:pt idx="3">
                  <c:v>0.16496176721158379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7-4678-AB6F-BC2FDF59DFFA}"/>
            </c:ext>
          </c:extLst>
        </c:ser>
        <c:ser>
          <c:idx val="1"/>
          <c:order val="1"/>
          <c:tx>
            <c:strRef>
              <c:f>'2F.Results to CS_ROE SCAN'!$D$9</c:f>
              <c:strCache>
                <c:ptCount val="1"/>
                <c:pt idx="0">
                  <c:v>Brand Familiarity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SCAN'!$D$10:$D$28</c:f>
              <c:numCache>
                <c:formatCode>0%</c:formatCode>
                <c:ptCount val="19"/>
                <c:pt idx="0">
                  <c:v>0.84919107950505013</c:v>
                </c:pt>
                <c:pt idx="1">
                  <c:v>7.5034741648583064E-2</c:v>
                </c:pt>
                <c:pt idx="2">
                  <c:v>4.2470094673402521E-2</c:v>
                </c:pt>
                <c:pt idx="3">
                  <c:v>3.3304084172964377E-2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7-4678-AB6F-BC2FDF59DFFA}"/>
            </c:ext>
          </c:extLst>
        </c:ser>
        <c:ser>
          <c:idx val="2"/>
          <c:order val="2"/>
          <c:tx>
            <c:strRef>
              <c:f>'2F.Results to CS_ROE SCAN'!$E$9</c:f>
              <c:strCache>
                <c:ptCount val="1"/>
                <c:pt idx="0">
                  <c:v>Brand Consideration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SCAN'!$E$10:$E$28</c:f>
              <c:numCache>
                <c:formatCode>0%</c:formatCode>
                <c:ptCount val="19"/>
                <c:pt idx="0">
                  <c:v>0.31714126173897839</c:v>
                </c:pt>
                <c:pt idx="1">
                  <c:v>7.4217592394776377E-2</c:v>
                </c:pt>
                <c:pt idx="2">
                  <c:v>0.57569975245402349</c:v>
                </c:pt>
                <c:pt idx="3">
                  <c:v>3.2941393412221714E-2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F7-4678-AB6F-BC2FDF59DFFA}"/>
            </c:ext>
          </c:extLst>
        </c:ser>
        <c:ser>
          <c:idx val="3"/>
          <c:order val="3"/>
          <c:tx>
            <c:strRef>
              <c:f>'2F.Results to CS_ROE SCAN'!$F$9</c:f>
              <c:strCache>
                <c:ptCount val="1"/>
                <c:pt idx="0">
                  <c:v>Outstanding performance in taking portraits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SCAN'!$F$10:$F$28</c:f>
              <c:numCache>
                <c:formatCode>0%</c:formatCode>
                <c:ptCount val="19"/>
                <c:pt idx="0">
                  <c:v>0.29795529305716079</c:v>
                </c:pt>
                <c:pt idx="1">
                  <c:v>7.9746882975456096E-2</c:v>
                </c:pt>
                <c:pt idx="2">
                  <c:v>0.29003414635847197</c:v>
                </c:pt>
                <c:pt idx="3">
                  <c:v>0.33226367760891112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F7-4678-AB6F-BC2FDF59DFFA}"/>
            </c:ext>
          </c:extLst>
        </c:ser>
        <c:ser>
          <c:idx val="4"/>
          <c:order val="4"/>
          <c:tx>
            <c:strRef>
              <c:f>'2F.Results to CS_ROE SCAN'!$G$9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SCAN'!$G$10:$G$28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F7-4678-AB6F-BC2FDF59DFFA}"/>
            </c:ext>
          </c:extLst>
        </c:ser>
        <c:ser>
          <c:idx val="5"/>
          <c:order val="5"/>
          <c:tx>
            <c:strRef>
              <c:f>'2F.Results to CS_ROE SCAN'!$H$9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SCAN'!$H$10:$H$28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F7-4678-AB6F-BC2FDF59DFFA}"/>
            </c:ext>
          </c:extLst>
        </c:ser>
        <c:ser>
          <c:idx val="6"/>
          <c:order val="6"/>
          <c:tx>
            <c:strRef>
              <c:f>'2F.Results to CS_ROE SCAN'!$I$9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SCAN'!$I$10:$I$28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F7-4678-AB6F-BC2FDF59DFFA}"/>
            </c:ext>
          </c:extLst>
        </c:ser>
        <c:ser>
          <c:idx val="7"/>
          <c:order val="7"/>
          <c:tx>
            <c:strRef>
              <c:f>'2F.Results to CS_ROE SCAN'!$J$9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SCAN'!$J$10:$J$28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9F7-4678-AB6F-BC2FDF59DFFA}"/>
            </c:ext>
          </c:extLst>
        </c:ser>
        <c:ser>
          <c:idx val="8"/>
          <c:order val="8"/>
          <c:tx>
            <c:strRef>
              <c:f>'2F.Results to CS_ROE SCAN'!$K$9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SCAN'!$K$10:$K$28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9F7-4678-AB6F-BC2FDF59DFFA}"/>
            </c:ext>
          </c:extLst>
        </c:ser>
        <c:ser>
          <c:idx val="9"/>
          <c:order val="9"/>
          <c:tx>
            <c:strRef>
              <c:f>'2F.Results to CS_ROE SCAN'!$L$9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SCAN'!$L$10:$L$28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9F7-4678-AB6F-BC2FDF59DFFA}"/>
            </c:ext>
          </c:extLst>
        </c:ser>
        <c:ser>
          <c:idx val="10"/>
          <c:order val="10"/>
          <c:tx>
            <c:strRef>
              <c:f>'2F.Results to CS_ROE SCAN'!$M$9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SCAN'!$M$10:$M$28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F7-4678-AB6F-BC2FDF59DFFA}"/>
            </c:ext>
          </c:extLst>
        </c:ser>
        <c:ser>
          <c:idx val="11"/>
          <c:order val="11"/>
          <c:tx>
            <c:strRef>
              <c:f>'2F.Results to CS_ROE SCAN'!$N$9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SCAN'!$N$10:$N$28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9F7-4678-AB6F-BC2FDF59DFFA}"/>
            </c:ext>
          </c:extLst>
        </c:ser>
        <c:ser>
          <c:idx val="12"/>
          <c:order val="12"/>
          <c:tx>
            <c:strRef>
              <c:f>'2F.Results to CS_ROE SCAN'!$O$9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SCAN'!$O$10:$O$28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9F7-4678-AB6F-BC2FDF59DFFA}"/>
            </c:ext>
          </c:extLst>
        </c:ser>
        <c:ser>
          <c:idx val="13"/>
          <c:order val="13"/>
          <c:tx>
            <c:strRef>
              <c:f>'2F.Results to CS_ROE SCAN'!$P$9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SCAN'!$P$10:$P$28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9F7-4678-AB6F-BC2FDF59DFFA}"/>
            </c:ext>
          </c:extLst>
        </c:ser>
        <c:ser>
          <c:idx val="14"/>
          <c:order val="14"/>
          <c:tx>
            <c:strRef>
              <c:f>'2F.Results to CS_ROE SCAN'!$Q$9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SCAN'!$Q$10:$Q$28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9F7-4678-AB6F-BC2FDF59DFFA}"/>
            </c:ext>
          </c:extLst>
        </c:ser>
        <c:ser>
          <c:idx val="15"/>
          <c:order val="15"/>
          <c:tx>
            <c:strRef>
              <c:f>'2F.Results to CS_ROE SCAN'!$R$9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SCAN'!$R$10:$R$28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E9F7-4678-AB6F-BC2FDF59DFFA}"/>
            </c:ext>
          </c:extLst>
        </c:ser>
        <c:ser>
          <c:idx val="16"/>
          <c:order val="16"/>
          <c:tx>
            <c:strRef>
              <c:f>'2F.Results to CS_ROE SCAN'!$S$9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SCAN'!$S$10:$S$28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9F7-4678-AB6F-BC2FDF59DFFA}"/>
            </c:ext>
          </c:extLst>
        </c:ser>
        <c:ser>
          <c:idx val="17"/>
          <c:order val="17"/>
          <c:tx>
            <c:strRef>
              <c:f>'2F.Results to CS_ROE SCAN'!$T$9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SCAN'!$T$10:$T$28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E9F7-4678-AB6F-BC2FDF59DFFA}"/>
            </c:ext>
          </c:extLst>
        </c:ser>
        <c:ser>
          <c:idx val="18"/>
          <c:order val="18"/>
          <c:tx>
            <c:strRef>
              <c:f>'2F.Results to CS_ROE SCAN'!$U$9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SCAN'!$U$10:$U$28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9F7-4678-AB6F-BC2FDF59DFFA}"/>
            </c:ext>
          </c:extLst>
        </c:ser>
        <c:ser>
          <c:idx val="19"/>
          <c:order val="19"/>
          <c:tx>
            <c:strRef>
              <c:f>'2F.Results to CS_ROE SCAN'!$V$9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2">
                <a:lumMod val="8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'2F.Results to CS_ROE SCAN'!$B$10:$B$28</c:f>
              <c:strCache>
                <c:ptCount val="19"/>
                <c:pt idx="0">
                  <c:v>instagram</c:v>
                </c:pt>
                <c:pt idx="1">
                  <c:v>youtube</c:v>
                </c:pt>
                <c:pt idx="2">
                  <c:v>tiktok</c:v>
                </c:pt>
                <c:pt idx="3">
                  <c:v>metro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strCache>
            </c:strRef>
          </c:cat>
          <c:val>
            <c:numRef>
              <c:f>'2F.Results to CS_ROE SCAN'!$V$10:$V$28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E9F7-4678-AB6F-BC2FDF59DF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2345711"/>
        <c:axId val="142350991"/>
      </c:barChart>
      <c:catAx>
        <c:axId val="14234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350991"/>
        <c:crosses val="autoZero"/>
        <c:auto val="1"/>
        <c:lblAlgn val="ctr"/>
        <c:lblOffset val="100"/>
        <c:noMultiLvlLbl val="0"/>
      </c:catAx>
      <c:valAx>
        <c:axId val="142350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345711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ubbleChart>
        <c:varyColors val="0"/>
        <c:ser>
          <c:idx val="0"/>
          <c:order val="0"/>
          <c:tx>
            <c:strRef>
              <c:f>'2F.Results to CS_ROE SCAN'!$D$126</c:f>
              <c:strCache>
                <c:ptCount val="1"/>
                <c:pt idx="0">
                  <c:v>Brand Familiarity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 w="25400">
              <a:noFill/>
              <a:prstDash val="solid"/>
            </a:ln>
          </c:spPr>
          <c:invertIfNegative val="0"/>
          <c:xVal>
            <c:numRef>
              <c:f>'2F.Results to CS_ROE SCAN'!$D$88:$D$106</c:f>
              <c:numCache>
                <c:formatCode>0%</c:formatCode>
                <c:ptCount val="19"/>
                <c:pt idx="0">
                  <c:v>0.11498454998908771</c:v>
                </c:pt>
                <c:pt idx="1">
                  <c:v>0.11176343853623461</c:v>
                </c:pt>
                <c:pt idx="2">
                  <c:v>0.189776244098597</c:v>
                </c:pt>
                <c:pt idx="3">
                  <c:v>0.1488182227068803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xVal>
          <c:yVal>
            <c:numRef>
              <c:f>'2F.Results to CS_ROE SCAN'!$D$127:$D$145</c:f>
              <c:numCache>
                <c:formatCode>_(* #,##0.00_);_(* \(#,##0.00\);_(* "-"??_);_(@_)</c:formatCode>
                <c:ptCount val="19"/>
                <c:pt idx="0">
                  <c:v>186.37852286332486</c:v>
                </c:pt>
                <c:pt idx="1">
                  <c:v>56.194552486616132</c:v>
                </c:pt>
                <c:pt idx="2">
                  <c:v>32.443940005138373</c:v>
                </c:pt>
                <c:pt idx="3">
                  <c:v>32.44394000513838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yVal>
          <c:bubbleSize>
            <c:numRef>
              <c:f>'2F.Results to CS_ROE SCAN'!$D$49:$D$67</c:f>
              <c:numCache>
                <c:formatCode>0%</c:formatCode>
                <c:ptCount val="19"/>
                <c:pt idx="0">
                  <c:v>6.7286300723366612E-3</c:v>
                </c:pt>
                <c:pt idx="1">
                  <c:v>5.9454347944980462E-4</c:v>
                </c:pt>
                <c:pt idx="2">
                  <c:v>3.3651502363990835E-4</c:v>
                </c:pt>
                <c:pt idx="3">
                  <c:v>2.638874426571351E-4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B2FD-49E4-A7C9-0091F01C0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645756240"/>
        <c:axId val="1645762960"/>
      </c:bubbleChart>
      <c:valAx>
        <c:axId val="1645756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62960"/>
        <c:crosses val="autoZero"/>
        <c:crossBetween val="midCat"/>
      </c:valAx>
      <c:valAx>
        <c:axId val="164576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56240"/>
        <c:crosses val="autoZero"/>
        <c:crossBetween val="midCat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ubbleChart>
        <c:varyColors val="0"/>
        <c:ser>
          <c:idx val="0"/>
          <c:order val="0"/>
          <c:tx>
            <c:strRef>
              <c:f>'2F.Results to CS_ROE SCAN'!$E$126</c:f>
              <c:strCache>
                <c:ptCount val="1"/>
                <c:pt idx="0">
                  <c:v>Brand Consideration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 w="25400">
              <a:noFill/>
              <a:prstDash val="solid"/>
            </a:ln>
          </c:spPr>
          <c:invertIfNegative val="0"/>
          <c:xVal>
            <c:numRef>
              <c:f>'2F.Results to CS_ROE SCAN'!$E$88:$E$106</c:f>
              <c:numCache>
                <c:formatCode>0%</c:formatCode>
                <c:ptCount val="19"/>
                <c:pt idx="0">
                  <c:v>0.11498454998908771</c:v>
                </c:pt>
                <c:pt idx="1">
                  <c:v>0.11176343853623461</c:v>
                </c:pt>
                <c:pt idx="2">
                  <c:v>0.189776244098597</c:v>
                </c:pt>
                <c:pt idx="3">
                  <c:v>0.1488182227068803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xVal>
          <c:yVal>
            <c:numRef>
              <c:f>'2F.Results to CS_ROE SCAN'!$E$127:$E$145</c:f>
              <c:numCache>
                <c:formatCode>_(* #,##0.00_);_(* \(#,##0.00\);_(* "-"??_);_(@_)</c:formatCode>
                <c:ptCount val="19"/>
                <c:pt idx="0">
                  <c:v>128.54125336951276</c:v>
                </c:pt>
                <c:pt idx="1">
                  <c:v>63.072414080603437</c:v>
                </c:pt>
                <c:pt idx="2">
                  <c:v>134.80717200847013</c:v>
                </c:pt>
                <c:pt idx="3">
                  <c:v>36.414875247875933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yVal>
          <c:bubbleSize>
            <c:numRef>
              <c:f>'2F.Results to CS_ROE SCAN'!$E$49:$E$67</c:f>
              <c:numCache>
                <c:formatCode>0%</c:formatCode>
                <c:ptCount val="19"/>
                <c:pt idx="0">
                  <c:v>6.396329529523989E-3</c:v>
                </c:pt>
                <c:pt idx="1">
                  <c:v>1.496872955735414E-3</c:v>
                </c:pt>
                <c:pt idx="2">
                  <c:v>1.1611120251492454E-2</c:v>
                </c:pt>
                <c:pt idx="3">
                  <c:v>6.6438534762367082E-4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A48F-47F5-B558-5138AF49B7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645756240"/>
        <c:axId val="1645762960"/>
      </c:bubbleChart>
      <c:valAx>
        <c:axId val="1645756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62960"/>
        <c:crosses val="autoZero"/>
        <c:crossBetween val="midCat"/>
      </c:valAx>
      <c:valAx>
        <c:axId val="164576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56240"/>
        <c:crosses val="autoZero"/>
        <c:crossBetween val="midCat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ubbleChart>
        <c:varyColors val="0"/>
        <c:ser>
          <c:idx val="0"/>
          <c:order val="0"/>
          <c:tx>
            <c:strRef>
              <c:f>'2F.Results to CS_ROE SCAN'!$F$126</c:f>
              <c:strCache>
                <c:ptCount val="1"/>
                <c:pt idx="0">
                  <c:v>Outstanding performance in taking portraits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 w="25400">
              <a:noFill/>
              <a:prstDash val="solid"/>
            </a:ln>
          </c:spPr>
          <c:invertIfNegative val="0"/>
          <c:xVal>
            <c:numRef>
              <c:f>'2F.Results to CS_ROE SCAN'!$F$88:$F$106</c:f>
              <c:numCache>
                <c:formatCode>0%</c:formatCode>
                <c:ptCount val="19"/>
                <c:pt idx="0">
                  <c:v>0.11498454998908771</c:v>
                </c:pt>
                <c:pt idx="1">
                  <c:v>0.11176343853623461</c:v>
                </c:pt>
                <c:pt idx="2">
                  <c:v>0.189776244098597</c:v>
                </c:pt>
                <c:pt idx="3">
                  <c:v>0.1488182227068803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xVal>
          <c:yVal>
            <c:numRef>
              <c:f>'2F.Results to CS_ROE SCAN'!$F$127:$F$145</c:f>
              <c:numCache>
                <c:formatCode>_(* #,##0.00_);_(* \(#,##0.00\);_(* "-"??_);_(@_)</c:formatCode>
                <c:ptCount val="19"/>
                <c:pt idx="0">
                  <c:v>121.11723680788855</c:v>
                </c:pt>
                <c:pt idx="1">
                  <c:v>63.556083616093304</c:v>
                </c:pt>
                <c:pt idx="2">
                  <c:v>93.015170990381591</c:v>
                </c:pt>
                <c:pt idx="3">
                  <c:v>112.42516243722345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yVal>
          <c:bubbleSize>
            <c:numRef>
              <c:f>'2F.Results to CS_ROE SCAN'!$F$49:$F$67</c:f>
              <c:numCache>
                <c:formatCode>0%</c:formatCode>
                <c:ptCount val="19"/>
                <c:pt idx="0">
                  <c:v>5.9853386994058915E-3</c:v>
                </c:pt>
                <c:pt idx="1">
                  <c:v>1.6019588037270445E-3</c:v>
                </c:pt>
                <c:pt idx="2">
                  <c:v>5.8262183649661946E-3</c:v>
                </c:pt>
                <c:pt idx="3">
                  <c:v>6.6745269989817481E-3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C259-4071-B569-EE96B81128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645756240"/>
        <c:axId val="1645762960"/>
      </c:bubbleChart>
      <c:valAx>
        <c:axId val="1645756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62960"/>
        <c:crosses val="autoZero"/>
        <c:crossBetween val="midCat"/>
      </c:valAx>
      <c:valAx>
        <c:axId val="164576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56240"/>
        <c:crosses val="autoZero"/>
        <c:crossBetween val="midCat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ubbleChart>
        <c:varyColors val="0"/>
        <c:ser>
          <c:idx val="0"/>
          <c:order val="0"/>
          <c:tx>
            <c:strRef>
              <c:f>'2F.Results to CS_ROE SCAN'!$G$126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 w="25400">
              <a:noFill/>
              <a:prstDash val="solid"/>
            </a:ln>
          </c:spPr>
          <c:invertIfNegative val="0"/>
          <c:xVal>
            <c:numRef>
              <c:f>'2F.Results to CS_ROE SCAN'!$G$88:$G$106</c:f>
            </c:numRef>
          </c:xVal>
          <c:yVal>
            <c:numRef>
              <c:f>'2F.Results to CS_ROE SCAN'!$G$127:$G$145</c:f>
              <c:numCache>
                <c:formatCode>_(* #,##0.00_);_(* \(#,##0.00\);_(* "-"??_);_(@_)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yVal>
          <c:bubbleSize>
            <c:numRef>
              <c:f>'2F.Results to CS_ROE SCAN'!$G$49:$G$67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60B5-4E32-BFB8-2D7C5F3FD6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645756240"/>
        <c:axId val="1645762960"/>
      </c:bubbleChart>
      <c:valAx>
        <c:axId val="1645756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62960"/>
        <c:crosses val="autoZero"/>
        <c:crossBetween val="midCat"/>
      </c:valAx>
      <c:valAx>
        <c:axId val="164576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56240"/>
        <c:crosses val="autoZero"/>
        <c:crossBetween val="midCat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ubbleChart>
        <c:varyColors val="0"/>
        <c:ser>
          <c:idx val="0"/>
          <c:order val="0"/>
          <c:tx>
            <c:strRef>
              <c:f>'2F.Results to CS_ROE SCAN'!$H$126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 w="25400">
              <a:noFill/>
              <a:prstDash val="solid"/>
            </a:ln>
          </c:spPr>
          <c:invertIfNegative val="0"/>
          <c:xVal>
            <c:numRef>
              <c:f>'2F.Results to CS_ROE SCAN'!$H$88:$H$106</c:f>
            </c:numRef>
          </c:xVal>
          <c:yVal>
            <c:numRef>
              <c:f>'2F.Results to CS_ROE SCAN'!$H$127:$H$145</c:f>
              <c:numCache>
                <c:formatCode>_(* #,##0.00_);_(* \(#,##0.00\);_(* "-"??_);_(@_)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yVal>
          <c:bubbleSize>
            <c:numRef>
              <c:f>'2F.Results to CS_ROE SCAN'!$H$49:$H$67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F854-49ED-911F-076292AD25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645756240"/>
        <c:axId val="1645762960"/>
      </c:bubbleChart>
      <c:valAx>
        <c:axId val="1645756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62960"/>
        <c:crosses val="autoZero"/>
        <c:crossBetween val="midCat"/>
      </c:valAx>
      <c:valAx>
        <c:axId val="164576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56240"/>
        <c:crosses val="autoZero"/>
        <c:crossBetween val="midCat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endParaRPr lang="zh-CN" altLang="en-US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bubbleChart>
        <c:varyColors val="0"/>
        <c:ser>
          <c:idx val="0"/>
          <c:order val="0"/>
          <c:tx>
            <c:strRef>
              <c:f>'2F.Results to CS_ROE SCAN'!$I$126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 w="25400">
              <a:noFill/>
              <a:prstDash val="solid"/>
            </a:ln>
          </c:spPr>
          <c:invertIfNegative val="0"/>
          <c:xVal>
            <c:numRef>
              <c:f>'2F.Results to CS_ROE SCAN'!$I$88:$I$106</c:f>
            </c:numRef>
          </c:xVal>
          <c:yVal>
            <c:numRef>
              <c:f>'2F.Results to CS_ROE SCAN'!$I$127:$I$145</c:f>
              <c:numCache>
                <c:formatCode>_(* #,##0.00_);_(* \(#,##0.00\);_(* "-"??_);_(@_)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yVal>
          <c:bubbleSize>
            <c:numRef>
              <c:f>'2F.Results to CS_ROE SCAN'!$I$49:$I$67</c:f>
              <c:numCache>
                <c:formatCode>0%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C615-45FE-BD2E-A71BD1B90F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645756240"/>
        <c:axId val="1645762960"/>
      </c:bubbleChart>
      <c:valAx>
        <c:axId val="1645756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62960"/>
        <c:crosses val="autoZero"/>
        <c:crossBetween val="midCat"/>
      </c:valAx>
      <c:valAx>
        <c:axId val="164576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756240"/>
        <c:crosses val="autoZero"/>
        <c:crossBetween val="midCat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9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B63-3B46-FF56-4C2B-2C47B87F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14413-2718-C4FB-E247-B7B30B178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5B76E-D5AA-801C-C4CD-248E0C80E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E1083-20DD-2356-6DCF-E20B87EE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C32F9-B701-371E-57AE-17445039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768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746B-15CA-BCF7-C77B-13D95E2C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9C3C8-4A7B-D678-46B9-0D259C7D5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9D9B7-6139-37D0-FC2B-CA876F25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AE1C2-26F5-4DD6-387D-230A79FF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3626F-6F0D-DD24-5E3F-0D2CF759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43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8FA2-30E6-4837-EA2A-C4AC9DD25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C542A-94C9-B70E-F4A7-B4B54B6DE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C49EE-8833-0D90-2557-D99F9875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58119-6875-1BAD-F42E-4D52E6381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B19B1-1980-3B40-3E01-27F33F7DC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934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2FB0-393C-7EA4-D57B-9A9550D3F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EE4D1-BAC7-0B4D-0655-46B5E278A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6A8E1-4EEC-23AC-8988-27A2BCE4F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1F9C2-9CD1-48BF-3451-14566C97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8CDDC-68F1-D6E4-76E5-01F419D2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A90E0-0AE4-925F-DDF0-68EEFC95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53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EFAB-5225-AAC2-57BE-CB8593E5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AB1C0-88C1-E42C-D649-87F93D956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2B8FE-0139-FFDC-9646-049C1D1BA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CF16E-0995-7357-9CD8-6866C5B88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2EF311-00A9-D30E-6A68-92DAC8095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12797-BC7A-A733-E92E-3C8B4305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76855-E851-31F5-E6D0-ED0EA3F2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2047D4-6EB9-228C-BF42-56AAB662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59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1367E-FF0D-693C-A321-4911DCE2B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6786F2-57D7-FB98-8016-1E5AF621F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C58E6-3F09-994D-1EF6-598D6C01D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EA3D2-679E-FFFE-E55F-0D270F2C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75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D46398-D5F5-4ACE-2A1C-2BDFB82C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6F654-4454-7961-F208-9A27BA590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C88CD-B9CF-3E36-1106-30CA8A5D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685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8DFE-AA37-6656-6AD9-F15B2508F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0F889-47D7-C09A-9430-624D9B41D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366C6-CBFA-7595-4440-F7053F4AC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49901-28BC-3CF2-6843-F7C9DE08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A848A-BBFC-7131-F31F-D95AF06B0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DC8DC-643B-4E0A-473F-BD60538B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08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3609-5AE4-1954-2514-32C1F6BE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227F8-795F-9E80-55F8-7AD790B0F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D2AFB-395B-C6E7-D254-89ADC63AB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A57FD-6B69-BB26-FF39-BA1F4C5C5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8E973-3671-4449-9126-7639935A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018A2-774E-5898-E470-98AF7946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83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D287E-EC75-8249-21FE-8412A7A5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6B440-F595-EE2F-019F-4B1394B86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FC5F5-DCE9-AFD3-9F78-613E7E79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F14BB-D8B4-FA74-CE2F-C9B5B57D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B04F4-997D-1422-A259-67E67912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61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2877B5-A5CD-4D94-9F98-88FCFE5A78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36820-B1F3-01E9-D05D-709B9E145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00783-F52E-CDCA-E4FB-052C23548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82AFA-B4AA-3D1F-0F9F-02930CFA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94CC-095E-97E9-C5BD-88EB2358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363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6A9816-A860-662C-AA3B-ABB2136D4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AF34B-2339-C163-1548-12BB602D6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B6427-2B07-76C8-745A-CB2B33750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19EC3-75EA-434D-AF3F-AA89FCE7E4F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948DE-91BB-509D-E53D-1C921F9DE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711EE-6A49-CA6D-3F82-EA3DCB8BE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82EF2-ABC8-477C-8510-4F7FFC9AE1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592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/>
        </p:nvGraphicFramePr>
        <p:xfrm>
          <a:off x="1844637" y="2046065"/>
          <a:ext cx="8502726" cy="2765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1216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800-000003000000}"/>
              </a:ext>
            </a:extLst>
          </p:cNvPr>
          <p:cNvGraphicFramePr>
            <a:graphicFrameLocks/>
          </p:cNvGraphicFramePr>
          <p:nvPr/>
        </p:nvGraphicFramePr>
        <p:xfrm>
          <a:off x="1536207" y="1405453"/>
          <a:ext cx="9119585" cy="4047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142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2000000}"/>
              </a:ext>
            </a:extLst>
          </p:cNvPr>
          <p:cNvGraphicFramePr>
            <a:graphicFrameLocks/>
          </p:cNvGraphicFramePr>
          <p:nvPr/>
        </p:nvGraphicFramePr>
        <p:xfrm>
          <a:off x="3688482" y="2190716"/>
          <a:ext cx="4815036" cy="24765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1580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3000000}"/>
              </a:ext>
            </a:extLst>
          </p:cNvPr>
          <p:cNvGraphicFramePr>
            <a:graphicFrameLocks/>
          </p:cNvGraphicFramePr>
          <p:nvPr/>
        </p:nvGraphicFramePr>
        <p:xfrm>
          <a:off x="-177709" y="1584805"/>
          <a:ext cx="12547419" cy="3688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88933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4000000}"/>
              </a:ext>
            </a:extLst>
          </p:cNvPr>
          <p:cNvGraphicFramePr>
            <a:graphicFrameLocks/>
          </p:cNvGraphicFramePr>
          <p:nvPr/>
        </p:nvGraphicFramePr>
        <p:xfrm>
          <a:off x="-233739" y="1167902"/>
          <a:ext cx="12659478" cy="4522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19088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5000000}"/>
              </a:ext>
            </a:extLst>
          </p:cNvPr>
          <p:cNvGraphicFramePr>
            <a:graphicFrameLocks/>
          </p:cNvGraphicFramePr>
          <p:nvPr/>
        </p:nvGraphicFramePr>
        <p:xfrm>
          <a:off x="3668277" y="2184703"/>
          <a:ext cx="4855445" cy="2488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1246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6000000}"/>
              </a:ext>
            </a:extLst>
          </p:cNvPr>
          <p:cNvGraphicFramePr>
            <a:graphicFrameLocks/>
          </p:cNvGraphicFramePr>
          <p:nvPr/>
        </p:nvGraphicFramePr>
        <p:xfrm>
          <a:off x="3691368" y="2184703"/>
          <a:ext cx="4809264" cy="2488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69243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7000000}"/>
              </a:ext>
            </a:extLst>
          </p:cNvPr>
          <p:cNvGraphicFramePr>
            <a:graphicFrameLocks/>
          </p:cNvGraphicFramePr>
          <p:nvPr/>
        </p:nvGraphicFramePr>
        <p:xfrm>
          <a:off x="3688482" y="2098112"/>
          <a:ext cx="4815036" cy="2661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0757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8000000}"/>
              </a:ext>
            </a:extLst>
          </p:cNvPr>
          <p:cNvGraphicFramePr>
            <a:graphicFrameLocks/>
          </p:cNvGraphicFramePr>
          <p:nvPr/>
        </p:nvGraphicFramePr>
        <p:xfrm>
          <a:off x="3668277" y="2098112"/>
          <a:ext cx="4855445" cy="2661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3281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9000000}"/>
              </a:ext>
            </a:extLst>
          </p:cNvPr>
          <p:cNvGraphicFramePr>
            <a:graphicFrameLocks/>
          </p:cNvGraphicFramePr>
          <p:nvPr/>
        </p:nvGraphicFramePr>
        <p:xfrm>
          <a:off x="3691368" y="2104126"/>
          <a:ext cx="4809264" cy="2649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1591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C00-00000A000000}"/>
              </a:ext>
            </a:extLst>
          </p:cNvPr>
          <p:cNvGraphicFramePr>
            <a:graphicFrameLocks/>
          </p:cNvGraphicFramePr>
          <p:nvPr/>
        </p:nvGraphicFramePr>
        <p:xfrm>
          <a:off x="3704394" y="2088343"/>
          <a:ext cx="4783212" cy="2681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2333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Xinyi Deng (external)</dc:creator>
  <cp:lastModifiedBy>Xinyi Deng (external)</cp:lastModifiedBy>
  <cp:revision>1</cp:revision>
  <dcterms:created xsi:type="dcterms:W3CDTF">2026-08-20T03:08:36Z</dcterms:created>
  <dcterms:modified xsi:type="dcterms:W3CDTF">2026-08-20T03:08:37Z</dcterms:modified>
</cp:coreProperties>
</file>